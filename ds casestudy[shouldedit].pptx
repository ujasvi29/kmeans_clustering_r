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3" r:id="rId7"/>
    <p:sldId id="273" r:id="rId8"/>
    <p:sldId id="272" r:id="rId9"/>
    <p:sldId id="276" r:id="rId10"/>
    <p:sldId id="277" r:id="rId11"/>
    <p:sldId id="278" r:id="rId12"/>
    <p:sldId id="264" r:id="rId13"/>
    <p:sldId id="265" r:id="rId14"/>
  </p:sldIdLst>
  <p:sldSz cx="9144000" cy="5143500" type="screen16x9"/>
  <p:notesSz cx="6858000" cy="9144000"/>
  <p:embeddedFontLst>
    <p:embeddedFont>
      <p:font typeface="Book Antiqua" panose="02040602050305030304" pitchFamily="18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jasvim vima" userId="efb4d8c70e22a771" providerId="LiveId" clId="{E2A182B4-9D1D-43A1-AC9F-0B38A7C19403}"/>
    <pc:docChg chg="modSld">
      <pc:chgData name="ujasvim vima" userId="efb4d8c70e22a771" providerId="LiveId" clId="{E2A182B4-9D1D-43A1-AC9F-0B38A7C19403}" dt="2025-12-10T09:22:30.230" v="28" actId="5793"/>
      <pc:docMkLst>
        <pc:docMk/>
      </pc:docMkLst>
      <pc:sldChg chg="modSp mod">
        <pc:chgData name="ujasvim vima" userId="efb4d8c70e22a771" providerId="LiveId" clId="{E2A182B4-9D1D-43A1-AC9F-0B38A7C19403}" dt="2025-12-10T09:22:24.071" v="27" actId="20577"/>
        <pc:sldMkLst>
          <pc:docMk/>
          <pc:sldMk cId="0" sldId="256"/>
        </pc:sldMkLst>
        <pc:spChg chg="mod">
          <ac:chgData name="ujasvim vima" userId="efb4d8c70e22a771" providerId="LiveId" clId="{E2A182B4-9D1D-43A1-AC9F-0B38A7C19403}" dt="2025-12-10T09:22:24.071" v="27" actId="20577"/>
          <ac:spMkLst>
            <pc:docMk/>
            <pc:sldMk cId="0" sldId="256"/>
            <ac:spMk id="3" creationId="{E2CB3996-DB42-8896-7BD8-D8AE0226AEF7}"/>
          </ac:spMkLst>
        </pc:spChg>
      </pc:sldChg>
      <pc:sldChg chg="modSp mod">
        <pc:chgData name="ujasvim vima" userId="efb4d8c70e22a771" providerId="LiveId" clId="{E2A182B4-9D1D-43A1-AC9F-0B38A7C19403}" dt="2025-12-10T09:22:30.230" v="28" actId="5793"/>
        <pc:sldMkLst>
          <pc:docMk/>
          <pc:sldMk cId="0" sldId="259"/>
        </pc:sldMkLst>
        <pc:spChg chg="mod">
          <ac:chgData name="ujasvim vima" userId="efb4d8c70e22a771" providerId="LiveId" clId="{E2A182B4-9D1D-43A1-AC9F-0B38A7C19403}" dt="2025-12-10T09:22:30.230" v="28" actId="5793"/>
          <ac:spMkLst>
            <pc:docMk/>
            <pc:sldMk cId="0" sldId="259"/>
            <ac:spMk id="77" creationId="{00000000-0000-0000-0000-000000000000}"/>
          </ac:spMkLst>
        </pc:spChg>
      </pc:sldChg>
      <pc:sldChg chg="modSp mod">
        <pc:chgData name="ujasvim vima" userId="efb4d8c70e22a771" providerId="LiveId" clId="{E2A182B4-9D1D-43A1-AC9F-0B38A7C19403}" dt="2025-12-10T09:21:25.075" v="12" actId="20577"/>
        <pc:sldMkLst>
          <pc:docMk/>
          <pc:sldMk cId="2487824065" sldId="272"/>
        </pc:sldMkLst>
        <pc:spChg chg="mod">
          <ac:chgData name="ujasvim vima" userId="efb4d8c70e22a771" providerId="LiveId" clId="{E2A182B4-9D1D-43A1-AC9F-0B38A7C19403}" dt="2025-12-10T09:21:25.075" v="12" actId="20577"/>
          <ac:spMkLst>
            <pc:docMk/>
            <pc:sldMk cId="2487824065" sldId="272"/>
            <ac:spMk id="7" creationId="{AE95A1C8-D6CA-5BE7-4309-A1CF6C5FF63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95daedc7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995daedc7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95daedc79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95daedc79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95daedc7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95daedc7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95daedc79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95daedc79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95daedc79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95daedc79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95daedc79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46" name="Google Shape;146;g3995daedc79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95daedc79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95daedc79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95daedc79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95daedc79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530850" y="2684072"/>
            <a:ext cx="2418566" cy="3900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accent2"/>
                </a:solidFill>
              </a:rPr>
              <a:t>Team members:</a:t>
            </a:r>
          </a:p>
          <a:p>
            <a:pPr lvl="0"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dirty="0">
                <a:solidFill>
                  <a:schemeClr val="accent2"/>
                </a:solidFill>
              </a:rPr>
              <a:t>Anjali(</a:t>
            </a:r>
            <a:r>
              <a:rPr lang="en" dirty="0">
                <a:solidFill>
                  <a:schemeClr val="tx1"/>
                </a:solidFill>
              </a:rPr>
              <a:t>160623733154)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accent2"/>
                </a:solidFill>
              </a:rPr>
              <a:t>Sr</a:t>
            </a:r>
            <a:r>
              <a:rPr lang="en" dirty="0">
                <a:solidFill>
                  <a:schemeClr val="accent2"/>
                </a:solidFill>
              </a:rPr>
              <a:t>eenidhi(160623733144)</a:t>
            </a:r>
          </a:p>
          <a:p>
            <a:pPr lvl="0"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dirty="0">
                <a:solidFill>
                  <a:schemeClr val="accent2"/>
                </a:solidFill>
              </a:rPr>
              <a:t>V</a:t>
            </a:r>
            <a:r>
              <a:rPr lang="en" dirty="0">
                <a:solidFill>
                  <a:schemeClr val="accent2"/>
                </a:solidFill>
              </a:rPr>
              <a:t>ignitha(160623733150)</a:t>
            </a:r>
          </a:p>
          <a:p>
            <a:pPr lvl="0"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dirty="0">
                <a:solidFill>
                  <a:schemeClr val="accent2"/>
                </a:solidFill>
              </a:rPr>
              <a:t>P</a:t>
            </a:r>
            <a:r>
              <a:rPr lang="en" dirty="0">
                <a:solidFill>
                  <a:schemeClr val="accent2"/>
                </a:solidFill>
              </a:rPr>
              <a:t>uja(160623733160)</a:t>
            </a:r>
          </a:p>
          <a:p>
            <a:pPr lvl="0"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dirty="0">
                <a:solidFill>
                  <a:schemeClr val="accent2"/>
                </a:solidFill>
              </a:rPr>
              <a:t>Ujasvi(160623733162)</a:t>
            </a:r>
          </a:p>
          <a:p>
            <a:pPr lvl="0"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dirty="0">
                <a:solidFill>
                  <a:schemeClr val="accent2"/>
                </a:solidFill>
              </a:rPr>
              <a:t>Afreen(160623733176)</a:t>
            </a:r>
          </a:p>
          <a:p>
            <a:pPr lvl="0"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dirty="0">
                <a:solidFill>
                  <a:schemeClr val="accent2"/>
                </a:solidFill>
              </a:rPr>
              <a:t>Akshitha(160623733185)</a:t>
            </a:r>
          </a:p>
          <a:p>
            <a:pPr lvl="0"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600" b="1" dirty="0">
              <a:solidFill>
                <a:srgbClr val="980000"/>
              </a:solidFill>
            </a:endParaRPr>
          </a:p>
          <a:p>
            <a:pPr lvl="0"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600" b="1" dirty="0">
              <a:solidFill>
                <a:srgbClr val="980000"/>
              </a:solidFill>
            </a:endParaRPr>
          </a:p>
          <a:p>
            <a:pPr lvl="0"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600" b="1" dirty="0">
              <a:solidFill>
                <a:srgbClr val="980000"/>
              </a:solidFill>
            </a:endParaRPr>
          </a:p>
          <a:p>
            <a:pPr lvl="0"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600" b="1" dirty="0">
              <a:solidFill>
                <a:srgbClr val="980000"/>
              </a:solidFill>
            </a:endParaRPr>
          </a:p>
          <a:p>
            <a:pPr lvl="0"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600" b="1" dirty="0">
              <a:solidFill>
                <a:srgbClr val="980000"/>
              </a:solidFill>
            </a:endParaRPr>
          </a:p>
        </p:txBody>
      </p:sp>
      <p:pic>
        <p:nvPicPr>
          <p:cNvPr id="55" name="Google Shape;55;p13" descr="D:\Stanley Logo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600" y="471775"/>
            <a:ext cx="1071250" cy="108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1655100" y="291125"/>
            <a:ext cx="6741000" cy="14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/>
              <a:t>DEPARTMENT OF COMPUTER SCIENCE AND ENGINEERING</a:t>
            </a:r>
            <a:endParaRPr sz="1500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STANLEY COLLEGE OF ENGINEERING &amp; TECHNOLOGY FOR WOMEN</a:t>
            </a:r>
            <a:endParaRPr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(AUTONOMOUS)</a:t>
            </a:r>
            <a:endParaRPr sz="1200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dirty="0"/>
              <a:t>(Affiliated to Osmania University, Approved by AICTE and Accredited by NAAC)</a:t>
            </a:r>
            <a:endParaRPr sz="900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/>
              <a:t>Hyderabad - 500 001, Telangana, India</a:t>
            </a:r>
            <a:endParaRPr sz="1000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/>
              <a:t>November, 2025</a:t>
            </a:r>
            <a:endParaRPr sz="1000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CB3996-DB42-8896-7BD8-D8AE0226A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498" y="1419922"/>
            <a:ext cx="8549802" cy="1572728"/>
          </a:xfrm>
        </p:spPr>
        <p:txBody>
          <a:bodyPr>
            <a:normAutofit/>
          </a:bodyPr>
          <a:lstStyle/>
          <a:p>
            <a:r>
              <a:rPr lang="en-US" sz="2200" b="1" dirty="0">
                <a:solidFill>
                  <a:srgbClr val="0070C0"/>
                </a:solidFill>
              </a:rPr>
              <a:t>K-Means Clustering on the Iris Dataset – Case Study </a:t>
            </a:r>
            <a:br>
              <a:rPr lang="en-US" sz="2200" b="1" dirty="0">
                <a:solidFill>
                  <a:srgbClr val="0070C0"/>
                </a:solidFill>
              </a:rPr>
            </a:br>
            <a:endParaRPr lang="en-US" sz="2200" b="1" dirty="0">
              <a:solidFill>
                <a:srgbClr val="0070C0"/>
              </a:solidFill>
            </a:endParaRPr>
          </a:p>
        </p:txBody>
      </p:sp>
      <p:sp>
        <p:nvSpPr>
          <p:cNvPr id="58" name="Google Shape;58;p1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E259FB-41EA-29AE-C929-64BA53A492D4}"/>
              </a:ext>
            </a:extLst>
          </p:cNvPr>
          <p:cNvSpPr txBox="1"/>
          <p:nvPr/>
        </p:nvSpPr>
        <p:spPr>
          <a:xfrm>
            <a:off x="5516137" y="3248722"/>
            <a:ext cx="287996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Guided By:</a:t>
            </a:r>
          </a:p>
          <a:p>
            <a:r>
              <a:rPr lang="en-US" dirty="0" err="1"/>
              <a:t>Dr.R.Manivannan</a:t>
            </a:r>
            <a:r>
              <a:rPr lang="en-US" dirty="0"/>
              <a:t> Sir</a:t>
            </a:r>
          </a:p>
          <a:p>
            <a:endParaRPr lang="en-US" dirty="0"/>
          </a:p>
          <a:p>
            <a:r>
              <a:rPr lang="en-US" b="1" dirty="0"/>
              <a:t>Team number </a:t>
            </a:r>
            <a:r>
              <a:rPr lang="en-US" dirty="0"/>
              <a:t>: 04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/>
        </p:nvSpPr>
        <p:spPr>
          <a:xfrm>
            <a:off x="475000" y="129442"/>
            <a:ext cx="8408805" cy="4836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2500" b="1" dirty="0">
              <a:solidFill>
                <a:srgbClr val="98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>
                <a:solidFill>
                  <a:srgbClr val="980000"/>
                </a:solidFill>
              </a:rPr>
              <a:t> </a:t>
            </a:r>
            <a:r>
              <a:rPr lang="en" sz="2500" b="1" dirty="0">
                <a:solidFill>
                  <a:srgbClr val="0070C0"/>
                </a:solidFill>
              </a:rPr>
              <a:t>Table of Contents:</a:t>
            </a:r>
            <a:endParaRPr sz="2500" b="1" dirty="0">
              <a:solidFill>
                <a:srgbClr val="0070C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 dirty="0">
              <a:solidFill>
                <a:srgbClr val="980000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 dirty="0">
                <a:solidFill>
                  <a:schemeClr val="dk1"/>
                </a:solidFill>
              </a:rPr>
              <a:t>Problem statement						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 dirty="0">
                <a:solidFill>
                  <a:schemeClr val="dk1"/>
                </a:solidFill>
              </a:rPr>
              <a:t>Background and literature / Technological Review </a:t>
            </a:r>
          </a:p>
          <a:p>
            <a:pPr marL="469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 startAt="3"/>
            </a:pPr>
            <a:r>
              <a:rPr lang="en" sz="1600" dirty="0">
                <a:solidFill>
                  <a:schemeClr val="dk1"/>
                </a:solidFill>
              </a:rPr>
              <a:t>Planning and design of work</a:t>
            </a:r>
          </a:p>
          <a:p>
            <a:pPr marL="469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 startAt="3"/>
            </a:pPr>
            <a:r>
              <a:rPr lang="en" sz="1600" dirty="0">
                <a:solidFill>
                  <a:schemeClr val="dk1"/>
                </a:solidFill>
              </a:rPr>
              <a:t>Implementation / Execution</a:t>
            </a:r>
          </a:p>
          <a:p>
            <a:pPr marL="469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 startAt="3"/>
            </a:pPr>
            <a:r>
              <a:rPr lang="en" sz="1600" dirty="0">
                <a:solidFill>
                  <a:schemeClr val="dk1"/>
                </a:solidFill>
              </a:rPr>
              <a:t>Testing / Validation</a:t>
            </a:r>
          </a:p>
          <a:p>
            <a:pPr marL="469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 startAt="3"/>
            </a:pPr>
            <a:r>
              <a:rPr lang="en" sz="1600" dirty="0">
                <a:solidFill>
                  <a:schemeClr val="dk1"/>
                </a:solidFill>
              </a:rPr>
              <a:t>Results and analysis	</a:t>
            </a:r>
          </a:p>
          <a:p>
            <a:pPr marL="469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 startAt="3"/>
            </a:pPr>
            <a:r>
              <a:rPr lang="en" sz="1600" dirty="0">
                <a:solidFill>
                  <a:schemeClr val="dk1"/>
                </a:solidFill>
              </a:rPr>
              <a:t>Challenges and Solutions				</a:t>
            </a:r>
          </a:p>
          <a:p>
            <a:pPr marL="469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 startAt="3"/>
            </a:pPr>
            <a:r>
              <a:rPr lang="en" sz="1600" dirty="0">
                <a:solidFill>
                  <a:schemeClr val="dk1"/>
                </a:solidFill>
              </a:rPr>
              <a:t>Conclusion and Future Scope	</a:t>
            </a:r>
            <a:r>
              <a:rPr lang="en" sz="1600" b="1" dirty="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			</a:t>
            </a:r>
            <a:endParaRPr sz="1600" b="1" dirty="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446350" y="45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68580" lvl="0" algn="l" rtl="0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ct val="100000"/>
            </a:pPr>
            <a:r>
              <a:rPr lang="en" b="1" dirty="0">
                <a:solidFill>
                  <a:srgbClr val="0070C0"/>
                </a:solidFill>
              </a:rPr>
              <a:t> 1. Problem Statement</a:t>
            </a:r>
            <a:endParaRPr b="1" dirty="0">
              <a:solidFill>
                <a:srgbClr val="0070C0"/>
              </a:solidFill>
            </a:endParaRPr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1"/>
          </p:nvPr>
        </p:nvSpPr>
        <p:spPr>
          <a:xfrm>
            <a:off x="513700" y="1128150"/>
            <a:ext cx="8385900" cy="379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7632" lvl="0" indent="0">
              <a:lnSpc>
                <a:spcPct val="200000"/>
              </a:lnSpc>
              <a:buClr>
                <a:srgbClr val="0070C0"/>
              </a:buClr>
              <a:buSzPts val="2063"/>
              <a:buNone/>
            </a:pPr>
            <a:r>
              <a:rPr lang="en-US" sz="1600" dirty="0"/>
              <a:t>The goal of this case study is to apply the K-Means clustering algorithm on the Iris dataset to automatically group flowers into clusters based only on their numeric measurements . The challenge is to see whether K-Means can correctly discover three natural groups in the dataset without using the actual species labels . The project aims to compare the formed clusters with the real species ( </a:t>
            </a:r>
            <a:r>
              <a:rPr lang="en-US" sz="1600" dirty="0" err="1"/>
              <a:t>Setosa</a:t>
            </a:r>
            <a:r>
              <a:rPr lang="en-US" sz="1600" dirty="0"/>
              <a:t>, Versicolor, Virginica) and analyze the accuracy and behavior of the algorithm.</a:t>
            </a:r>
            <a:endParaRPr sz="585"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460150" y="445025"/>
            <a:ext cx="8372100" cy="80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61" b="1" dirty="0">
                <a:solidFill>
                  <a:srgbClr val="0070C0"/>
                </a:solidFill>
              </a:rPr>
              <a:t>2. Background and Literature / Technological                       Review   </a:t>
            </a:r>
            <a:r>
              <a:rPr lang="en" sz="2761" dirty="0">
                <a:solidFill>
                  <a:srgbClr val="0070C0"/>
                </a:solidFill>
              </a:rPr>
              <a:t>      </a:t>
            </a:r>
            <a:r>
              <a:rPr lang="en" sz="1600" dirty="0">
                <a:solidFill>
                  <a:srgbClr val="0070C0"/>
                </a:solidFill>
              </a:rPr>
              <a:t> </a:t>
            </a:r>
            <a:endParaRPr b="1" dirty="0">
              <a:solidFill>
                <a:srgbClr val="0070C0"/>
              </a:solidFill>
            </a:endParaRPr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1"/>
          </p:nvPr>
        </p:nvSpPr>
        <p:spPr>
          <a:xfrm>
            <a:off x="356072" y="1367417"/>
            <a:ext cx="8227200" cy="3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12750" lvl="0" indent="-285750">
              <a:lnSpc>
                <a:spcPct val="105000"/>
              </a:lnSpc>
              <a:buClr>
                <a:srgbClr val="0070C0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1600" dirty="0"/>
              <a:t>The Iris dataset is one of the most widely used datasets in machine learning research.</a:t>
            </a:r>
          </a:p>
          <a:p>
            <a:pPr marL="412750" lvl="0" indent="-285750">
              <a:lnSpc>
                <a:spcPct val="105000"/>
              </a:lnSpc>
              <a:buClr>
                <a:srgbClr val="0070C0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1600" dirty="0"/>
              <a:t> It contains 150 flower samples belonging to three species: </a:t>
            </a:r>
            <a:r>
              <a:rPr lang="en-US" sz="1600" dirty="0" err="1"/>
              <a:t>Setosa</a:t>
            </a:r>
            <a:r>
              <a:rPr lang="en-US" sz="1600" dirty="0"/>
              <a:t> , Versicolor, and Virginica.</a:t>
            </a:r>
          </a:p>
          <a:p>
            <a:pPr marL="412750" lvl="0" indent="-285750">
              <a:lnSpc>
                <a:spcPct val="105000"/>
              </a:lnSpc>
              <a:buClr>
                <a:srgbClr val="0070C0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1600" dirty="0"/>
              <a:t>Each sample has four numeric measurements that are commonly used in classification and clustering studies.</a:t>
            </a:r>
          </a:p>
          <a:p>
            <a:pPr marL="412750" lvl="0" indent="-285750">
              <a:lnSpc>
                <a:spcPct val="105000"/>
              </a:lnSpc>
              <a:buClr>
                <a:srgbClr val="0070C0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1600" dirty="0"/>
              <a:t>K-Means is a popular unsupervised learning algorithm used to divide data into k clusters based on similarity.</a:t>
            </a:r>
          </a:p>
          <a:p>
            <a:pPr marL="412750" lvl="0" indent="-285750">
              <a:lnSpc>
                <a:spcPct val="105000"/>
              </a:lnSpc>
              <a:buClr>
                <a:srgbClr val="0070C0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1600" dirty="0"/>
              <a:t>Many research studies show that K-Means works well on the Iris dataset because it has clear natural grouping, especially for the </a:t>
            </a:r>
            <a:r>
              <a:rPr lang="en-US" sz="1600" dirty="0" err="1"/>
              <a:t>Setosa</a:t>
            </a:r>
            <a:r>
              <a:rPr lang="en-US" sz="1600" dirty="0"/>
              <a:t> species.</a:t>
            </a:r>
          </a:p>
          <a:p>
            <a:pPr marL="412750" lvl="0" indent="-285750">
              <a:lnSpc>
                <a:spcPct val="105000"/>
              </a:lnSpc>
              <a:buClr>
                <a:srgbClr val="0070C0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1600" dirty="0"/>
              <a:t>Overall, Iris + K-Means is a standard case study used in data mining and machine learning education to demonstrate clustering concepts.</a:t>
            </a:r>
          </a:p>
        </p:txBody>
      </p:sp>
      <p:sp>
        <p:nvSpPr>
          <p:cNvPr id="85" name="Google Shape;8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385950" y="323166"/>
            <a:ext cx="8372100" cy="8096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22" b="1" dirty="0">
                <a:solidFill>
                  <a:srgbClr val="980000"/>
                </a:solidFill>
              </a:rPr>
              <a:t> </a:t>
            </a:r>
            <a:r>
              <a:rPr lang="en" sz="2822" b="1" dirty="0">
                <a:solidFill>
                  <a:srgbClr val="0070C0"/>
                </a:solidFill>
              </a:rPr>
              <a:t>3. Planning and Design of Work</a:t>
            </a:r>
            <a:endParaRPr b="1" dirty="0">
              <a:solidFill>
                <a:srgbClr val="0070C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22" b="1" dirty="0">
              <a:solidFill>
                <a:srgbClr val="980000"/>
              </a:solidFill>
            </a:endParaRPr>
          </a:p>
        </p:txBody>
      </p:sp>
      <p:sp>
        <p:nvSpPr>
          <p:cNvPr id="92" name="Google Shape;9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09C63D7-FCE4-2F38-BA25-7A3290287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484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1D3A5E7-BA5E-0123-DB67-493AA5E0F5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916" y="-1707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2539D78-120E-0893-19D7-620DC20B5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150" y="1152525"/>
            <a:ext cx="8521700" cy="34163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0247D83B-855F-3782-4CAC-4D1FBA2F0D1D}"/>
              </a:ext>
            </a:extLst>
          </p:cNvPr>
          <p:cNvSpPr txBox="1">
            <a:spLocks/>
          </p:cNvSpPr>
          <p:nvPr/>
        </p:nvSpPr>
        <p:spPr>
          <a:xfrm>
            <a:off x="385950" y="988741"/>
            <a:ext cx="8428866" cy="382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endParaRPr lang="en-US" sz="1600" dirty="0"/>
          </a:p>
          <a:p>
            <a:pPr marL="114300" indent="0">
              <a:buFont typeface="Arial"/>
              <a:buNone/>
            </a:pPr>
            <a:endParaRPr lang="en-US" sz="1600" dirty="0"/>
          </a:p>
          <a:p>
            <a:pPr marL="114300" indent="0">
              <a:buFont typeface="Arial"/>
              <a:buNone/>
            </a:pPr>
            <a:endParaRPr lang="en-US" sz="1600" dirty="0"/>
          </a:p>
          <a:p>
            <a:pPr marL="114300" indent="0">
              <a:buFont typeface="Arial"/>
              <a:buNone/>
            </a:pPr>
            <a:endParaRPr lang="en-US" sz="1600" dirty="0"/>
          </a:p>
          <a:p>
            <a:pPr marL="114300" indent="0">
              <a:buFont typeface="Arial"/>
              <a:buNone/>
            </a:pPr>
            <a:endParaRPr lang="en-US" sz="1600" dirty="0"/>
          </a:p>
          <a:p>
            <a:pPr marL="114300" indent="0">
              <a:buFont typeface="Arial"/>
              <a:buNone/>
            </a:pPr>
            <a:endParaRPr lang="en-US" sz="1600" dirty="0"/>
          </a:p>
          <a:p>
            <a:pPr marL="114300" indent="0">
              <a:buFont typeface="Arial"/>
              <a:buNone/>
            </a:pPr>
            <a:endParaRPr lang="en-US" sz="1600" dirty="0"/>
          </a:p>
          <a:p>
            <a:pPr marL="114300" indent="0">
              <a:buFont typeface="Arial"/>
              <a:buNone/>
            </a:pPr>
            <a:endParaRPr lang="en-US" sz="1600" dirty="0"/>
          </a:p>
          <a:p>
            <a:pPr marL="114300" indent="0">
              <a:buFont typeface="Arial"/>
              <a:buNone/>
            </a:pPr>
            <a:endParaRPr lang="en-US" sz="1600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F9E2E97-5562-D5D2-875B-1E9F78565F89}"/>
              </a:ext>
            </a:extLst>
          </p:cNvPr>
          <p:cNvSpPr txBox="1">
            <a:spLocks/>
          </p:cNvSpPr>
          <p:nvPr/>
        </p:nvSpPr>
        <p:spPr>
          <a:xfrm>
            <a:off x="385950" y="969497"/>
            <a:ext cx="8656066" cy="4043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Font typeface="+mj-lt"/>
              <a:buAutoNum type="arabicPeriod"/>
            </a:pPr>
            <a:r>
              <a:rPr lang="en-US" sz="1600" dirty="0"/>
              <a:t>Identified the objective: to cluster the Iris dataset using the K-Means algorithm.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Collected and inspected the built-in Iris dataset in R using structure and summary checks.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Selected only the numeric attributes required for clustering and removed the Species column.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Prepared the workflow for analysis:</a:t>
            </a:r>
          </a:p>
          <a:p>
            <a:pPr marL="114300" indent="0">
              <a:buNone/>
            </a:pPr>
            <a:r>
              <a:rPr lang="en-US" sz="1600" dirty="0"/>
              <a:t>      – Data Loading</a:t>
            </a:r>
          </a:p>
          <a:p>
            <a:pPr marL="114300" indent="0">
              <a:buNone/>
            </a:pPr>
            <a:r>
              <a:rPr lang="en-US" sz="1600" dirty="0"/>
              <a:t>      – Data Cleaning &amp; Preprocessing</a:t>
            </a:r>
          </a:p>
          <a:p>
            <a:pPr marL="114300" indent="0">
              <a:buNone/>
            </a:pPr>
            <a:r>
              <a:rPr lang="en-US" sz="1600" dirty="0"/>
              <a:t>      – Feature Selection– </a:t>
            </a:r>
          </a:p>
          <a:p>
            <a:pPr marL="114300" indent="0">
              <a:buNone/>
            </a:pPr>
            <a:r>
              <a:rPr lang="en-US" sz="1600" dirty="0"/>
              <a:t>      – Applying K-Means (k = 3)</a:t>
            </a:r>
          </a:p>
          <a:p>
            <a:pPr marL="114300" indent="0">
              <a:buNone/>
            </a:pPr>
            <a:r>
              <a:rPr lang="en-US" sz="1600" dirty="0"/>
              <a:t>      – Visualization of clusters</a:t>
            </a:r>
          </a:p>
          <a:p>
            <a:pPr marL="114300" indent="0">
              <a:buNone/>
            </a:pPr>
            <a:r>
              <a:rPr lang="en-US" sz="1600" dirty="0"/>
              <a:t>      – Evaluation using Confusion matrix</a:t>
            </a:r>
          </a:p>
          <a:p>
            <a:pPr marL="114300" indent="0">
              <a:buNone/>
            </a:pPr>
            <a:r>
              <a:rPr lang="en-US" sz="1600" dirty="0"/>
              <a:t>5.  Planned &amp; Designed clear plots and outputs to support analysis and presentation.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title"/>
          </p:nvPr>
        </p:nvSpPr>
        <p:spPr>
          <a:xfrm>
            <a:off x="458400" y="377332"/>
            <a:ext cx="8372100" cy="80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22" b="1" dirty="0">
                <a:solidFill>
                  <a:srgbClr val="0070C0"/>
                </a:solidFill>
              </a:rPr>
              <a:t>4. </a:t>
            </a:r>
            <a:r>
              <a:rPr lang="en" sz="2500" b="1" dirty="0">
                <a:solidFill>
                  <a:srgbClr val="0070C0"/>
                </a:solidFill>
              </a:rPr>
              <a:t>Implementation / Execution  </a:t>
            </a:r>
            <a:br>
              <a:rPr lang="en" sz="2500" b="1" dirty="0">
                <a:solidFill>
                  <a:srgbClr val="0070C0"/>
                </a:solidFill>
              </a:rPr>
            </a:br>
            <a:endParaRPr sz="3700" b="1" dirty="0">
              <a:solidFill>
                <a:srgbClr val="0070C0"/>
              </a:solidFill>
            </a:endParaRPr>
          </a:p>
        </p:txBody>
      </p:sp>
      <p:sp>
        <p:nvSpPr>
          <p:cNvPr id="106" name="Google Shape;106;p20"/>
          <p:cNvSpPr txBox="1">
            <a:spLocks noGrp="1"/>
          </p:cNvSpPr>
          <p:nvPr>
            <p:ph type="body" idx="1"/>
          </p:nvPr>
        </p:nvSpPr>
        <p:spPr>
          <a:xfrm>
            <a:off x="458400" y="975649"/>
            <a:ext cx="8227200" cy="37905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endParaRPr lang="en-US" sz="1600" dirty="0"/>
          </a:p>
          <a:p>
            <a:pPr marL="0" lvl="0" indent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endParaRPr sz="1600" dirty="0"/>
          </a:p>
        </p:txBody>
      </p:sp>
      <p:sp>
        <p:nvSpPr>
          <p:cNvPr id="108" name="Google Shape;10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0A75E7-5F65-8997-5FAE-50C524D31CFA}"/>
              </a:ext>
            </a:extLst>
          </p:cNvPr>
          <p:cNvSpPr txBox="1"/>
          <p:nvPr/>
        </p:nvSpPr>
        <p:spPr>
          <a:xfrm>
            <a:off x="458401" y="1115122"/>
            <a:ext cx="777855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Loaded the Iris dataset using the built-in data(iris) function in 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Verified dataset structure using str(iris) and confirmed 150 rows and 5 columns.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Selected only the numeric columns (Sepal Length, Sepal Width, Petal Length, Petal Width) for clustering.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Preprocessed the data by checking for missing values and duplicates (none found).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Applied the K-Means algorithm with k = 3, using </a:t>
            </a:r>
            <a:r>
              <a:rPr lang="en-US" sz="1600" dirty="0" err="1"/>
              <a:t>set.seed</a:t>
            </a:r>
            <a:r>
              <a:rPr lang="en-US" sz="1600" dirty="0"/>
              <a:t>(123) for reproducibility.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Generated cluster outputs such as cluster sizes, cluster centers, and assigned labels.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Created two scatter plots:– K-Means Cluster Visualization</a:t>
            </a:r>
          </a:p>
          <a:p>
            <a:r>
              <a:rPr lang="en-US" dirty="0"/>
              <a:t>                                               – Actual Species 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Exported results and plots for use in the presentation.</a:t>
            </a:r>
          </a:p>
          <a:p>
            <a:r>
              <a:rPr lang="en-US" dirty="0"/>
              <a:t>   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B4E20BD-FD7E-2235-1AC8-7F92F974265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  <a:ln>
            <a:solidFill>
              <a:schemeClr val="bg1"/>
            </a:solidFill>
          </a:ln>
        </p:spPr>
        <p:txBody>
          <a:bodyPr>
            <a:normAutofit fontScale="90000"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5. Testing / Validation</a:t>
            </a:r>
            <a:br>
              <a:rPr lang="en-US" sz="2400" b="1" dirty="0">
                <a:solidFill>
                  <a:schemeClr val="accent1"/>
                </a:solidFill>
              </a:rPr>
            </a:br>
            <a:endParaRPr lang="en-US" sz="2300" b="1" dirty="0">
              <a:solidFill>
                <a:schemeClr val="accent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90A3244-666F-A9AB-18DA-8DEC63D26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842" y="883920"/>
            <a:ext cx="8709458" cy="4082089"/>
          </a:xfrm>
        </p:spPr>
        <p:txBody>
          <a:bodyPr>
            <a:normAutofit/>
          </a:bodyPr>
          <a:lstStyle/>
          <a:p>
            <a:pPr marL="114300" indent="0">
              <a:lnSpc>
                <a:spcPct val="200000"/>
              </a:lnSpc>
              <a:buNone/>
            </a:pPr>
            <a:r>
              <a:rPr lang="en-US" sz="1600" dirty="0"/>
              <a:t>• Verified the input data by checking structure using str(iris)</a:t>
            </a:r>
            <a:br>
              <a:rPr lang="en-US" sz="1600" dirty="0"/>
            </a:br>
            <a:r>
              <a:rPr lang="en-US" sz="1600" dirty="0"/>
              <a:t>• Confirmed no missing values or invalid records before clustering</a:t>
            </a:r>
            <a:br>
              <a:rPr lang="en-US" sz="1600" dirty="0"/>
            </a:br>
            <a:r>
              <a:rPr lang="en-US" sz="1600" dirty="0"/>
              <a:t>• Validated the K-means model by comparing predicted clusters with actual species</a:t>
            </a:r>
            <a:br>
              <a:rPr lang="en-US" sz="1600" dirty="0"/>
            </a:br>
            <a:r>
              <a:rPr lang="en-US" sz="1600" dirty="0"/>
              <a:t>• Used a Confusion Matrix to check how well clusters matched species</a:t>
            </a:r>
            <a:br>
              <a:rPr lang="en-US" sz="1600" dirty="0"/>
            </a:br>
            <a:r>
              <a:rPr lang="en-US" sz="1600" dirty="0"/>
              <a:t>• Tested stability by running K-means with </a:t>
            </a:r>
            <a:r>
              <a:rPr lang="en-US" sz="1600" dirty="0" err="1"/>
              <a:t>nstart</a:t>
            </a:r>
            <a:r>
              <a:rPr lang="en-US" sz="1600" dirty="0"/>
              <a:t>=20 to avoid random initialization issues</a:t>
            </a:r>
            <a:br>
              <a:rPr lang="en-US" sz="1600" dirty="0"/>
            </a:br>
            <a:r>
              <a:rPr lang="en-US" sz="1600" dirty="0"/>
              <a:t>• Checked visual validation using scatter plots of clusters vs actual species</a:t>
            </a:r>
          </a:p>
          <a:p>
            <a:pPr marL="114300" indent="0">
              <a:lnSpc>
                <a:spcPct val="200000"/>
              </a:lnSpc>
              <a:buNone/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490A2-0DB6-9450-8E27-B1A5E46D32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37241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A61F5-FD78-45A6-5E3E-D198D0311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820" y="2811779"/>
            <a:ext cx="8367480" cy="1757095"/>
          </a:xfrm>
        </p:spPr>
        <p:txBody>
          <a:bodyPr>
            <a:normAutofit fontScale="32500" lnSpcReduction="20000"/>
          </a:bodyPr>
          <a:lstStyle/>
          <a:p>
            <a:pPr marL="114300" indent="0">
              <a:buNone/>
            </a:pPr>
            <a:r>
              <a:rPr lang="en-US" dirty="0"/>
              <a:t>                                                                                                                                               </a:t>
            </a:r>
          </a:p>
          <a:p>
            <a:pPr marL="114300" indent="0">
              <a:buNone/>
            </a:pPr>
            <a:r>
              <a:rPr lang="en-US" dirty="0"/>
              <a:t>                                                                                                                           </a:t>
            </a:r>
            <a:endParaRPr lang="en-US" sz="2100" dirty="0"/>
          </a:p>
          <a:p>
            <a:pPr marL="114300" indent="0">
              <a:buNone/>
            </a:pPr>
            <a:r>
              <a:rPr lang="en-US" sz="2100" dirty="0"/>
              <a:t>                                                                                                                                                  </a:t>
            </a:r>
          </a:p>
          <a:p>
            <a:pPr marL="114300" indent="0">
              <a:buNone/>
            </a:pPr>
            <a:r>
              <a:rPr lang="en-US" sz="1600" dirty="0"/>
              <a:t>                                                                                                                                                                          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                                                                      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84750-8628-108D-A643-76A2A8498E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7730842-6352-1FC2-4E06-FFD7FDC6A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982" y="445025"/>
            <a:ext cx="8306318" cy="5727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6 - Results and Analysis</a:t>
            </a:r>
            <a:endParaRPr lang="en-IN" b="1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95A1C8-D6CA-5BE7-4309-A1CF6C5FF636}"/>
              </a:ext>
            </a:extLst>
          </p:cNvPr>
          <p:cNvSpPr txBox="1"/>
          <p:nvPr/>
        </p:nvSpPr>
        <p:spPr>
          <a:xfrm>
            <a:off x="122842" y="1391478"/>
            <a:ext cx="8770305" cy="3370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dirty="0"/>
              <a:t>• K-Means formed </a:t>
            </a:r>
            <a:r>
              <a:rPr lang="en-IN" sz="1600" b="1" dirty="0"/>
              <a:t>3 clusters</a:t>
            </a:r>
            <a:r>
              <a:rPr lang="en-IN" sz="1600" dirty="0"/>
              <a:t> with sizes  50, 62, and 38</a:t>
            </a:r>
            <a:br>
              <a:rPr lang="en-IN" sz="1600" dirty="0"/>
            </a:br>
            <a:r>
              <a:rPr lang="en-IN" sz="1600" dirty="0"/>
              <a:t>• Cluster </a:t>
            </a:r>
            <a:r>
              <a:rPr lang="en-IN" sz="1600" dirty="0" err="1"/>
              <a:t>centers</a:t>
            </a:r>
            <a:r>
              <a:rPr lang="en-IN" sz="1600" dirty="0"/>
              <a:t> showed distinct separation for </a:t>
            </a:r>
            <a:r>
              <a:rPr lang="en-IN" sz="1600" b="1" dirty="0" err="1"/>
              <a:t>Setosa</a:t>
            </a:r>
            <a:r>
              <a:rPr lang="en-IN" sz="1600" dirty="0"/>
              <a:t> due to small petal measurements</a:t>
            </a:r>
            <a:br>
              <a:rPr lang="en-IN" sz="1600" dirty="0"/>
            </a:br>
            <a:r>
              <a:rPr lang="en-IN" sz="1600" dirty="0"/>
              <a:t>• Visual cluster plot confirmed clear grouping patterns</a:t>
            </a:r>
            <a:br>
              <a:rPr lang="en-IN" sz="1600" dirty="0"/>
            </a:br>
            <a:r>
              <a:rPr lang="en-IN" sz="1600" dirty="0"/>
              <a:t>• Actual species plot showed natural overlap between Versicolor and Virginica</a:t>
            </a:r>
            <a:br>
              <a:rPr lang="en-IN" sz="1600" dirty="0"/>
            </a:br>
            <a:r>
              <a:rPr lang="en-IN" sz="1600" dirty="0"/>
              <a:t>• Confusion Matrix:</a:t>
            </a:r>
            <a:br>
              <a:rPr lang="en-IN" sz="1600" dirty="0"/>
            </a:br>
            <a:r>
              <a:rPr lang="en-IN" sz="1600" dirty="0"/>
              <a:t>– </a:t>
            </a:r>
            <a:r>
              <a:rPr lang="en-IN" sz="1600" dirty="0" err="1"/>
              <a:t>Setosa</a:t>
            </a:r>
            <a:r>
              <a:rPr lang="en-IN" sz="1600" dirty="0"/>
              <a:t> → 100% correctly grouped</a:t>
            </a:r>
            <a:br>
              <a:rPr lang="en-IN" sz="1600" dirty="0"/>
            </a:br>
            <a:r>
              <a:rPr lang="en-IN" sz="1600" dirty="0"/>
              <a:t>– Versicolor &amp; Virginica → partial mixing</a:t>
            </a:r>
            <a:br>
              <a:rPr lang="en-IN" sz="1600" dirty="0"/>
            </a:br>
            <a:r>
              <a:rPr lang="en-IN" sz="1600" dirty="0"/>
              <a:t>• Overall: K-Means performed well and aligned closely with the natural biological groups</a:t>
            </a:r>
          </a:p>
          <a:p>
            <a:pPr>
              <a:lnSpc>
                <a:spcPct val="150000"/>
              </a:lnSpc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487824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>
            <a:spLocks noGrp="1"/>
          </p:cNvSpPr>
          <p:nvPr>
            <p:ph type="body" idx="1"/>
          </p:nvPr>
        </p:nvSpPr>
        <p:spPr>
          <a:xfrm>
            <a:off x="458400" y="1099625"/>
            <a:ext cx="8227200" cy="3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solidFill>
                <a:srgbClr val="980000"/>
              </a:solidFill>
            </a:endParaRPr>
          </a:p>
          <a:p>
            <a:pPr marL="45720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endParaRPr sz="1600" dirty="0"/>
          </a:p>
        </p:txBody>
      </p:sp>
      <p:sp>
        <p:nvSpPr>
          <p:cNvPr id="151" name="Google Shape;151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15E7EE-F436-81B9-3F6D-D7E4A617E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808" y="310321"/>
            <a:ext cx="8608492" cy="53696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1"/>
                </a:solidFill>
              </a:rPr>
              <a:t>Screenshots &amp; Outputs</a:t>
            </a:r>
          </a:p>
        </p:txBody>
      </p:sp>
      <p:pic>
        <p:nvPicPr>
          <p:cNvPr id="5" name="Picture 4" descr="A screenshot of a computer code">
            <a:extLst>
              <a:ext uri="{FF2B5EF4-FFF2-40B4-BE49-F238E27FC236}">
                <a16:creationId xmlns:a16="http://schemas.microsoft.com/office/drawing/2014/main" id="{07ACDD54-6AE3-C9F9-7233-75775E6025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584"/>
          <a:stretch>
            <a:fillRect/>
          </a:stretch>
        </p:blipFill>
        <p:spPr>
          <a:xfrm>
            <a:off x="553673" y="771480"/>
            <a:ext cx="7781989" cy="18922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3D7BF4E-BA52-474A-9CC6-3D06E38651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4366"/>
          <a:stretch>
            <a:fillRect/>
          </a:stretch>
        </p:blipFill>
        <p:spPr>
          <a:xfrm>
            <a:off x="252590" y="2663687"/>
            <a:ext cx="8083072" cy="23931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C51C4C-1F68-050E-76E2-36DDFDC802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B6D7DE-6A89-99F5-0B1F-9A052A0BB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5107" y="256198"/>
            <a:ext cx="4449158" cy="42694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A7086B-7A9E-1DDA-C9A6-A174555FC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1" y="163919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766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0E0C100D-3E5A-7B7F-3ED6-E372AF7D1D5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31181" y="4580328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67EAC25-1239-B84B-D751-7AD07850B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9" y="0"/>
            <a:ext cx="4734253" cy="5143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935C483-9D34-AF49-41DD-F338887C40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708"/>
          <a:stretch>
            <a:fillRect/>
          </a:stretch>
        </p:blipFill>
        <p:spPr>
          <a:xfrm>
            <a:off x="4857267" y="523001"/>
            <a:ext cx="4222613" cy="3512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541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>
            <a:off x="100668" y="445025"/>
            <a:ext cx="8731582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/>
            <a:r>
              <a:rPr lang="en-IN" sz="2400" b="1" dirty="0">
                <a:solidFill>
                  <a:schemeClr val="accent1"/>
                </a:solidFill>
              </a:rPr>
              <a:t>7. Challenges and Solutions</a:t>
            </a:r>
            <a:endParaRPr sz="2500" b="1" dirty="0">
              <a:solidFill>
                <a:schemeClr val="accent1"/>
              </a:solidFill>
            </a:endParaRPr>
          </a:p>
        </p:txBody>
      </p:sp>
      <p:sp>
        <p:nvSpPr>
          <p:cNvPr id="114" name="Google Shape;114;p21"/>
          <p:cNvSpPr txBox="1">
            <a:spLocks noGrp="1"/>
          </p:cNvSpPr>
          <p:nvPr>
            <p:ph type="body" idx="1"/>
          </p:nvPr>
        </p:nvSpPr>
        <p:spPr>
          <a:xfrm>
            <a:off x="532600" y="1086075"/>
            <a:ext cx="8227200" cy="3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b="1" dirty="0"/>
              <a:t>Challenge:</a:t>
            </a:r>
            <a:r>
              <a:rPr lang="en-US" sz="1600" dirty="0"/>
              <a:t> Selecting the correct number of clusters</a:t>
            </a:r>
            <a:br>
              <a:rPr lang="en-US" sz="1600" dirty="0"/>
            </a:br>
            <a:r>
              <a:rPr lang="en-US" sz="1600" b="1" dirty="0"/>
              <a:t>Solution:</a:t>
            </a:r>
            <a:r>
              <a:rPr lang="en-US" sz="1600" dirty="0"/>
              <a:t> Chose k = 3 based on domain knowledge of iris species</a:t>
            </a:r>
          </a:p>
          <a:p>
            <a:r>
              <a:rPr lang="en-US" sz="1600" b="1" dirty="0"/>
              <a:t>Challenge:</a:t>
            </a:r>
            <a:r>
              <a:rPr lang="en-US" sz="1600" dirty="0"/>
              <a:t> Overlap between Versicolor and Virginica</a:t>
            </a:r>
            <a:br>
              <a:rPr lang="en-US" sz="1600" dirty="0"/>
            </a:br>
            <a:r>
              <a:rPr lang="en-US" sz="1600" b="1" dirty="0"/>
              <a:t>Solution:</a:t>
            </a:r>
            <a:r>
              <a:rPr lang="en-US" sz="1600" dirty="0"/>
              <a:t> Used petal features for visualization to highlight separation</a:t>
            </a:r>
          </a:p>
          <a:p>
            <a:r>
              <a:rPr lang="en-US" sz="1600" b="1" dirty="0"/>
              <a:t>Challenge:</a:t>
            </a:r>
            <a:r>
              <a:rPr lang="en-US" sz="1600" dirty="0"/>
              <a:t> Ensuring reproducible results</a:t>
            </a:r>
            <a:br>
              <a:rPr lang="en-US" sz="1600" dirty="0"/>
            </a:br>
            <a:r>
              <a:rPr lang="en-US" sz="1600" b="1" dirty="0"/>
              <a:t>Solution:</a:t>
            </a:r>
            <a:r>
              <a:rPr lang="en-US" sz="1600" dirty="0"/>
              <a:t> Used </a:t>
            </a:r>
            <a:r>
              <a:rPr lang="en-US" dirty="0" err="1"/>
              <a:t>set.seed</a:t>
            </a:r>
            <a:r>
              <a:rPr lang="en-US" dirty="0"/>
              <a:t>(123)</a:t>
            </a:r>
            <a:r>
              <a:rPr lang="en-US" sz="1600" dirty="0"/>
              <a:t> during clustering</a:t>
            </a:r>
          </a:p>
          <a:p>
            <a:r>
              <a:rPr lang="en-US" sz="1600" b="1" dirty="0"/>
              <a:t>Challenge:</a:t>
            </a:r>
            <a:r>
              <a:rPr lang="en-US" sz="1600" dirty="0"/>
              <a:t> Interpreting centroid values</a:t>
            </a:r>
            <a:br>
              <a:rPr lang="en-US" sz="1600" dirty="0"/>
            </a:br>
            <a:r>
              <a:rPr lang="en-US" sz="1600" b="1" dirty="0"/>
              <a:t>Solution:</a:t>
            </a:r>
            <a:r>
              <a:rPr lang="en-US" sz="1600" dirty="0"/>
              <a:t> Compared cluster centers with species characteristics to understand group meaning</a:t>
            </a:r>
          </a:p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endParaRPr sz="1600" dirty="0"/>
          </a:p>
        </p:txBody>
      </p:sp>
      <p:sp>
        <p:nvSpPr>
          <p:cNvPr id="115" name="Google Shape;11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title"/>
          </p:nvPr>
        </p:nvSpPr>
        <p:spPr>
          <a:xfrm>
            <a:off x="0" y="445025"/>
            <a:ext cx="8832250" cy="5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/>
            <a:r>
              <a:rPr lang="en-IN" sz="2400" b="1" dirty="0">
                <a:solidFill>
                  <a:schemeClr val="accent1"/>
                </a:solidFill>
              </a:rPr>
              <a:t>8. Conclusion and Future Scope</a:t>
            </a:r>
            <a:endParaRPr sz="2500" b="1" dirty="0">
              <a:solidFill>
                <a:schemeClr val="accent1"/>
              </a:solidFill>
            </a:endParaRPr>
          </a:p>
        </p:txBody>
      </p:sp>
      <p:sp>
        <p:nvSpPr>
          <p:cNvPr id="121" name="Google Shape;121;p22"/>
          <p:cNvSpPr txBox="1">
            <a:spLocks noGrp="1"/>
          </p:cNvSpPr>
          <p:nvPr>
            <p:ph type="body" idx="1"/>
          </p:nvPr>
        </p:nvSpPr>
        <p:spPr>
          <a:xfrm>
            <a:off x="586740" y="922020"/>
            <a:ext cx="8098860" cy="36842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US" sz="1600" dirty="0"/>
              <a:t>• K-Means successfully identified 3 meaningful clusters in the iris dataset</a:t>
            </a:r>
            <a:br>
              <a:rPr lang="en-US" sz="1600" dirty="0"/>
            </a:br>
            <a:r>
              <a:rPr lang="en-US" sz="1600" dirty="0"/>
              <a:t>• </a:t>
            </a:r>
            <a:r>
              <a:rPr lang="en-US" sz="1600" dirty="0" err="1"/>
              <a:t>Setosa</a:t>
            </a:r>
            <a:r>
              <a:rPr lang="en-US" sz="1600" dirty="0"/>
              <a:t> was perfectly separated, showing strong clustering performance</a:t>
            </a:r>
            <a:br>
              <a:rPr lang="en-US" sz="1600" dirty="0"/>
            </a:br>
            <a:r>
              <a:rPr lang="en-US" sz="1600" dirty="0"/>
              <a:t>• Versicolor and Virginica showed expected overlap due to similar measurements</a:t>
            </a:r>
            <a:br>
              <a:rPr lang="en-US" sz="1600" dirty="0"/>
            </a:br>
            <a:r>
              <a:rPr lang="en-US" sz="1600" dirty="0"/>
              <a:t>• The project demonstrates how unsupervised learning can discover natural patterns in data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sz="1600" b="1" dirty="0"/>
              <a:t>Future Scope:</a:t>
            </a:r>
            <a:br>
              <a:rPr lang="en-US" sz="1600" dirty="0"/>
            </a:br>
            <a:r>
              <a:rPr lang="en-US" sz="1600" dirty="0"/>
              <a:t>• Try other algorithms (Hierarchical Clustering, DBSCAN)</a:t>
            </a:r>
            <a:br>
              <a:rPr lang="en-US" sz="1600" dirty="0"/>
            </a:br>
            <a:r>
              <a:rPr lang="en-US" sz="1600" dirty="0"/>
              <a:t>• Perform dimensionality reduction (PCA) to visualize clusters better</a:t>
            </a:r>
            <a:br>
              <a:rPr lang="en-US" sz="1600" dirty="0"/>
            </a:br>
            <a:r>
              <a:rPr lang="en-US" sz="1600" dirty="0"/>
              <a:t>• Apply clustering to larger, real-world datasets</a:t>
            </a: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endParaRPr sz="1600" dirty="0"/>
          </a:p>
        </p:txBody>
      </p:sp>
      <p:sp>
        <p:nvSpPr>
          <p:cNvPr id="122" name="Google Shape;122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</TotalTime>
  <Words>960</Words>
  <Application>Microsoft Office PowerPoint</Application>
  <PresentationFormat>On-screen Show (16:9)</PresentationFormat>
  <Paragraphs>128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Book Antiqua</vt:lpstr>
      <vt:lpstr>Simple Light</vt:lpstr>
      <vt:lpstr>K-Means Clustering on the Iris Dataset – Case Study  </vt:lpstr>
      <vt:lpstr>PowerPoint Presentation</vt:lpstr>
      <vt:lpstr> 1. Problem Statement</vt:lpstr>
      <vt:lpstr>2. Background and Literature / Technological                       Review          </vt:lpstr>
      <vt:lpstr> 3. Planning and Design of Work </vt:lpstr>
      <vt:lpstr>4. Implementation / Execution   </vt:lpstr>
      <vt:lpstr>5. Testing / Validation </vt:lpstr>
      <vt:lpstr>6 - Results and Analysis</vt:lpstr>
      <vt:lpstr>Screenshots &amp; Outputs</vt:lpstr>
      <vt:lpstr>PowerPoint Presentation</vt:lpstr>
      <vt:lpstr>PowerPoint Presentation</vt:lpstr>
      <vt:lpstr>7. Challenges and Solutions</vt:lpstr>
      <vt:lpstr>8. Conclusion and Future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ujasvim vima</cp:lastModifiedBy>
  <cp:revision>5</cp:revision>
  <dcterms:modified xsi:type="dcterms:W3CDTF">2025-12-10T09:22:31Z</dcterms:modified>
</cp:coreProperties>
</file>